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90D9"/>
                </a:solidFill>
              </a:rPr>
              <a:t>Seismic Agent 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F0FE"/>
                </a:solidFill>
              </a:rPr>
              <a:t>A Multi-Agent System for Geophysical Seismic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99AA"/>
                </a:solidFill>
              </a:rPr>
              <a:t>CSCI 576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Motivation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Seismic interpretation is multi-disciplinary and labour-intensive</a:t>
            </a:r>
          </a:p>
          <a:p>
            <a:r>
              <a:rPr sz="1900">
                <a:solidFill>
                  <a:srgbClr val="E8F0FE"/>
                </a:solidFill>
              </a:rPr>
              <a:t>  •  Requires: data loading, QC, rock physics, forward modelling, inversion, reporting</a:t>
            </a:r>
          </a:p>
          <a:p>
            <a:r>
              <a:rPr sz="1900">
                <a:solidFill>
                  <a:srgbClr val="E8F0FE"/>
                </a:solidFill>
              </a:rPr>
              <a:t>  •  Traditional workflows are manual, error-prone, and hard to reproduce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Goal: Autonomous MAS that accepts a plain-English query and produces:</a:t>
            </a:r>
          </a:p>
          <a:p>
            <a:r>
              <a:rPr sz="1900">
                <a:solidFill>
                  <a:srgbClr val="E8F0FE"/>
                </a:solidFill>
              </a:rPr>
              <a:t>    → Velocity statistics + elastic properties</a:t>
            </a:r>
          </a:p>
          <a:p>
            <a:r>
              <a:rPr sz="1900">
                <a:solidFill>
                  <a:srgbClr val="E8F0FE"/>
                </a:solidFill>
              </a:rPr>
              <a:t>    → Forward-modelled synthetic seismic gathers</a:t>
            </a:r>
          </a:p>
          <a:p>
            <a:r>
              <a:rPr sz="1900">
                <a:solidFill>
                  <a:srgbClr val="E8F0FE"/>
                </a:solidFill>
              </a:rPr>
              <a:t>    → Full Waveform Inversion (FWI) velocity update</a:t>
            </a:r>
          </a:p>
          <a:p>
            <a:r>
              <a:rPr sz="1900">
                <a:solidFill>
                  <a:srgbClr val="E8F0FE"/>
                </a:solidFill>
              </a:rPr>
              <a:t>    → LLM-generated geophysical interpretation</a:t>
            </a:r>
          </a:p>
          <a:p>
            <a:r>
              <a:rPr sz="1900">
                <a:solidFill>
                  <a:srgbClr val="E8F0FE"/>
                </a:solidFill>
              </a:rPr>
              <a:t>    → Compiled PDF report with figures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Dataset — Marmousi2 Synthetic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Grid: 13,601 × 2,801 cells at 1.25 m spacing</a:t>
            </a:r>
          </a:p>
          <a:p>
            <a:r>
              <a:rPr sz="1900">
                <a:solidFill>
                  <a:srgbClr val="E8F0FE"/>
                </a:solidFill>
              </a:rPr>
              <a:t>  •  Represents a complex faulted anticline (standard benchmark)</a:t>
            </a:r>
          </a:p>
          <a:p>
            <a:r>
              <a:rPr sz="1900">
                <a:solidFill>
                  <a:srgbClr val="E8F0FE"/>
                </a:solidFill>
              </a:rPr>
              <a:t>  •  Two SEGY velocity model files:</a:t>
            </a:r>
          </a:p>
          <a:p>
            <a:r>
              <a:rPr sz="1900">
                <a:solidFill>
                  <a:srgbClr val="E8F0FE"/>
                </a:solidFill>
              </a:rPr>
              <a:t>    MODEL_P-WAVE_VELOCITY_1.25m.segy.tar.gz  (Vp)</a:t>
            </a:r>
          </a:p>
          <a:p>
            <a:r>
              <a:rPr sz="1900">
                <a:solidFill>
                  <a:srgbClr val="E8F0FE"/>
                </a:solidFill>
              </a:rPr>
              <a:t>    MODEL_S-WAVE_VELOCITY_1.25m.segy.tar.gz  (Vs)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Challenges handled:</a:t>
            </a:r>
          </a:p>
          <a:p>
            <a:r>
              <a:rPr sz="1900">
                <a:solidFill>
                  <a:srgbClr val="E8F0FE"/>
                </a:solidFill>
              </a:rPr>
              <a:t>    IBM-float byte-order detection and correction</a:t>
            </a:r>
          </a:p>
          <a:p>
            <a:r>
              <a:rPr sz="1900">
                <a:solidFill>
                  <a:srgbClr val="E8F0FE"/>
                </a:solidFill>
              </a:rPr>
              <a:t>    38 M-cell arrays → downsampled for display (500 × 700)</a:t>
            </a:r>
          </a:p>
          <a:p>
            <a:r>
              <a:rPr sz="1900">
                <a:solidFill>
                  <a:srgbClr val="E8F0FE"/>
                </a:solidFill>
              </a:rPr>
              <a:t>    Priority ordering of multiple candidate Vp/Vs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Central Workspace: shared event bus + MissionState dataclass</a:t>
            </a:r>
          </a:p>
          <a:p>
            <a:r>
              <a:rPr sz="1900">
                <a:solidFill>
                  <a:srgbClr val="E8F0FE"/>
                </a:solidFill>
              </a:rPr>
              <a:t>  •  Publish / subscribe via MissionSignal enum</a:t>
            </a:r>
          </a:p>
          <a:p>
            <a:r>
              <a:rPr sz="1900">
                <a:solidFill>
                  <a:srgbClr val="E8F0FE"/>
                </a:solidFill>
              </a:rPr>
              <a:t>  •  All state transitions logged to mission_log.json (full auditability)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Signal chain:</a:t>
            </a:r>
          </a:p>
          <a:p>
            <a:r>
              <a:rPr sz="1900">
                <a:solidFill>
                  <a:srgbClr val="E8F0FE"/>
                </a:solidFill>
              </a:rPr>
              <a:t>    User Query → ManagerAgent</a:t>
            </a:r>
          </a:p>
          <a:p>
            <a:r>
              <a:rPr sz="1900">
                <a:solidFill>
                  <a:srgbClr val="E8F0FE"/>
                </a:solidFill>
              </a:rPr>
              <a:t>    → DATA_READY → AnalysisAgent</a:t>
            </a:r>
          </a:p>
          <a:p>
            <a:r>
              <a:rPr sz="1900">
                <a:solidFill>
                  <a:srgbClr val="E8F0FE"/>
                </a:solidFill>
              </a:rPr>
              <a:t>    → ANALYSIS_COMPLETE → VerifierAgent</a:t>
            </a:r>
          </a:p>
          <a:p>
            <a:r>
              <a:rPr sz="1900">
                <a:solidFill>
                  <a:srgbClr val="E8F0FE"/>
                </a:solidFill>
              </a:rPr>
              <a:t>    → VERIFICATION_COMPLETE → [ReporterAgent, LaTeXReporterAgent]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Design patterns: Observer, Chain-of-Responsibility, Strategy, 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ManagerAgent — Query Parsing &amp; Data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Accepts free-form English queries</a:t>
            </a:r>
          </a:p>
          <a:p>
            <a:r>
              <a:rPr sz="1900">
                <a:solidFill>
                  <a:srgbClr val="E8F0FE"/>
                </a:solidFill>
              </a:rPr>
              <a:t>  •  Calls Gemini (JSON mode) to extract:</a:t>
            </a:r>
          </a:p>
          <a:p>
            <a:r>
              <a:rPr sz="1900">
                <a:solidFill>
                  <a:srgbClr val="E8F0FE"/>
                </a:solidFill>
              </a:rPr>
              <a:t>    dataset_keyword  (e.g. 'Marmousi')</a:t>
            </a:r>
          </a:p>
          <a:p>
            <a:r>
              <a:rPr sz="1900">
                <a:solidFill>
                  <a:srgbClr val="E8F0FE"/>
                </a:solidFill>
              </a:rPr>
              <a:t>    analysis_type   (e.g. 'porosity prediction')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Data discovery pipeline:</a:t>
            </a:r>
          </a:p>
          <a:p>
            <a:r>
              <a:rPr sz="1900">
                <a:solidFill>
                  <a:srgbClr val="E8F0FE"/>
                </a:solidFill>
              </a:rPr>
              <a:t>    1.  Exact case-insensitive filename search in data_seismic/</a:t>
            </a:r>
          </a:p>
          <a:p>
            <a:r>
              <a:rPr sz="1900">
                <a:solidFill>
                  <a:srgbClr val="E8F0FE"/>
                </a:solidFill>
              </a:rPr>
              <a:t>    2.  LLM-assisted file ranking (fallback)</a:t>
            </a:r>
          </a:p>
          <a:p>
            <a:r>
              <a:rPr sz="1900">
                <a:solidFill>
                  <a:srgbClr val="E8F0FE"/>
                </a:solidFill>
              </a:rPr>
              <a:t>    3.  Clarification request if no match found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Emits: DATA_READY with {files, analysis_type}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Analysis Tool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A90D9"/>
                </a:solidFill>
              </a:rPr>
              <a:t>Tools</a:t>
            </a:r>
          </a:p>
          <a:p>
            <a:r>
              <a:rPr sz="1700">
                <a:solidFill>
                  <a:srgbClr val="E8F0FE"/>
                </a:solidFill>
              </a:rPr>
              <a:t>  •  SEGYLoaderTool</a:t>
            </a:r>
          </a:p>
          <a:p>
            <a:r>
              <a:rPr sz="1700">
                <a:solidFill>
                  <a:srgbClr val="E8F0FE"/>
                </a:solidFill>
              </a:rPr>
              <a:t>    – segyio + IBM-float handling</a:t>
            </a:r>
          </a:p>
          <a:p>
            <a:r>
              <a:rPr sz="1700">
                <a:solidFill>
                  <a:srgbClr val="E8F0FE"/>
                </a:solidFill>
              </a:rPr>
              <a:t>    – velocity-range sanity check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VelocityAnalysisTool</a:t>
            </a:r>
          </a:p>
          <a:p>
            <a:r>
              <a:rPr sz="1700">
                <a:solidFill>
                  <a:srgbClr val="E8F0FE"/>
                </a:solidFill>
              </a:rPr>
              <a:t>    – Vp, Vs stats + ratios</a:t>
            </a:r>
          </a:p>
          <a:p>
            <a:r>
              <a:rPr sz="1700">
                <a:solidFill>
                  <a:srgbClr val="E8F0FE"/>
                </a:solidFill>
              </a:rPr>
              <a:t>    – Acoustic Impedance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ForwardModelingTool</a:t>
            </a:r>
          </a:p>
          <a:p>
            <a:r>
              <a:rPr sz="1700">
                <a:solidFill>
                  <a:srgbClr val="E8F0FE"/>
                </a:solidFill>
              </a:rPr>
              <a:t>    – 2-D acoustic FD modelling</a:t>
            </a:r>
          </a:p>
          <a:p>
            <a:r>
              <a:rPr sz="1700">
                <a:solidFill>
                  <a:srgbClr val="E8F0FE"/>
                </a:solidFill>
              </a:rPr>
              <a:t>    – configurable shots &amp; length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FWITool</a:t>
            </a:r>
          </a:p>
          <a:p>
            <a:r>
              <a:rPr sz="1700">
                <a:solidFill>
                  <a:srgbClr val="E8F0FE"/>
                </a:solidFill>
              </a:rPr>
              <a:t>    – adjoint-state inversion</a:t>
            </a:r>
          </a:p>
          <a:p>
            <a:r>
              <a:rPr sz="1700">
                <a:solidFill>
                  <a:srgbClr val="E8F0FE"/>
                </a:solidFill>
              </a:rPr>
              <a:t>    – misfit &amp; convergence metrics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LLMSummaryTool</a:t>
            </a:r>
          </a:p>
          <a:p>
            <a:r>
              <a:rPr sz="1700">
                <a:solidFill>
                  <a:srgbClr val="E8F0FE"/>
                </a:solidFill>
              </a:rPr>
              <a:t>    – Gemini narrative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A90D9"/>
                </a:solidFill>
              </a:rPr>
              <a:t>Pipelines</a:t>
            </a:r>
          </a:p>
          <a:p>
            <a:r>
              <a:rPr sz="1700">
                <a:solidFill>
                  <a:srgbClr val="E8F0FE"/>
                </a:solidFill>
              </a:rPr>
              <a:t>  •  velocity_analysis:</a:t>
            </a:r>
          </a:p>
          <a:p>
            <a:r>
              <a:rPr sz="1700">
                <a:solidFill>
                  <a:srgbClr val="E8F0FE"/>
                </a:solidFill>
              </a:rPr>
              <a:t>    Loader → VelAna → LLM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forward_modeling:</a:t>
            </a:r>
          </a:p>
          <a:p>
            <a:r>
              <a:rPr sz="1700">
                <a:solidFill>
                  <a:srgbClr val="E8F0FE"/>
                </a:solidFill>
              </a:rPr>
              <a:t>    Loader → VelAna → Fwd → LLM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fwi:</a:t>
            </a:r>
          </a:p>
          <a:p>
            <a:r>
              <a:rPr sz="1700">
                <a:solidFill>
                  <a:srgbClr val="E8F0FE"/>
                </a:solidFill>
              </a:rPr>
              <a:t>    Loader → VelAna → Fwd → FWI → LLM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Resolved by keyword match</a:t>
            </a:r>
          </a:p>
          <a:p>
            <a:r>
              <a:rPr sz="1700">
                <a:solidFill>
                  <a:srgbClr val="E8F0FE"/>
                </a:solidFill>
              </a:rPr>
              <a:t>    from ANALYSIS_PIPELINES dict</a:t>
            </a:r>
          </a:p>
          <a:p>
            <a:r>
              <a:rPr sz="1700">
                <a:solidFill>
                  <a:srgbClr val="E8F0FE"/>
                </a:solidFill>
              </a:rPr>
              <a:t>  •  </a:t>
            </a:r>
          </a:p>
          <a:p>
            <a:r>
              <a:rPr sz="1700">
                <a:solidFill>
                  <a:srgbClr val="E8F0FE"/>
                </a:solidFill>
              </a:rPr>
              <a:t>  •  Easily extended:</a:t>
            </a:r>
          </a:p>
          <a:p>
            <a:r>
              <a:rPr sz="1700">
                <a:solidFill>
                  <a:srgbClr val="E8F0FE"/>
                </a:solidFill>
              </a:rPr>
              <a:t>    add one factory function</a:t>
            </a:r>
          </a:p>
          <a:p>
            <a:r>
              <a:rPr sz="1700">
                <a:solidFill>
                  <a:srgbClr val="E8F0FE"/>
                </a:solidFill>
              </a:rPr>
              <a:t>    + one dict entry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VerifierAgent — Critic &amp; Quality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Subscribes to ANALYSIS_COMPLETE; blocks reports until verified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Step 1 – SeismicGuardrails (7 rules):</a:t>
            </a:r>
          </a:p>
          <a:p>
            <a:r>
              <a:rPr sz="1900">
                <a:solidFill>
                  <a:srgbClr val="E8F0FE"/>
                </a:solidFill>
              </a:rPr>
              <a:t>    Vp ∈ [500, 8000] m/s</a:t>
            </a:r>
          </a:p>
          <a:p>
            <a:r>
              <a:rPr sz="1900">
                <a:solidFill>
                  <a:srgbClr val="E8F0FE"/>
                </a:solidFill>
              </a:rPr>
              <a:t>    Vs ∈ [0, 5000] m/s</a:t>
            </a:r>
          </a:p>
          <a:p>
            <a:r>
              <a:rPr sz="1900">
                <a:solidFill>
                  <a:srgbClr val="E8F0FE"/>
                </a:solidFill>
              </a:rPr>
              <a:t>    Vp &gt; Vs  (physically required)</a:t>
            </a:r>
          </a:p>
          <a:p>
            <a:r>
              <a:rPr sz="1900">
                <a:solidFill>
                  <a:srgbClr val="E8F0FE"/>
                </a:solidFill>
              </a:rPr>
              <a:t>    Vp/Vs ∈ [1.0, 6.0]</a:t>
            </a:r>
          </a:p>
          <a:p>
            <a:r>
              <a:rPr sz="1900">
                <a:solidFill>
                  <a:srgbClr val="E8F0FE"/>
                </a:solidFill>
              </a:rPr>
              <a:t>    Poisson's ratio ∈ [0.0, 0.5]</a:t>
            </a:r>
          </a:p>
          <a:p>
            <a:r>
              <a:rPr sz="1900">
                <a:solidFill>
                  <a:srgbClr val="E8F0FE"/>
                </a:solidFill>
              </a:rPr>
              <a:t>    No off-domain language (financial / medical / legal)</a:t>
            </a:r>
          </a:p>
          <a:p>
            <a:r>
              <a:rPr sz="1900">
                <a:solidFill>
                  <a:srgbClr val="E8F0FE"/>
                </a:solidFill>
              </a:rPr>
              <a:t>    No phantom file references in LLM text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Step 2 – LLM cross-check (fail-open)</a:t>
            </a:r>
          </a:p>
          <a:p>
            <a:r>
              <a:rPr sz="1900">
                <a:solidFill>
                  <a:srgbClr val="E8F0FE"/>
                </a:solidFill>
              </a:rPr>
              <a:t>  •  Step 3 – Confidence = 1.0 − 0.15×violations − 0.20×LLM-fail</a:t>
            </a:r>
          </a:p>
          <a:p>
            <a:r>
              <a:rPr sz="1900">
                <a:solidFill>
                  <a:srgbClr val="E8F0FE"/>
                </a:solidFill>
              </a:rPr>
              <a:t>  •  Step 4 – Auto-retry with corrective prompt if confidence &lt; 0.6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Marmousi2 Velocity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elocity_model_20260502_151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</a:rPr>
              <a:t>Left: Vp (P-wave)  ·  Right: Vs (S-wave)  ·  Colour: velocity (m/s)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Key Quantitative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P-wave velocity (Vp)</a:t>
            </a:r>
          </a:p>
          <a:p>
            <a:r>
              <a:rPr sz="1900">
                <a:solidFill>
                  <a:srgbClr val="E8F0FE"/>
                </a:solidFill>
              </a:rPr>
              <a:t>    Mean ≈ 2 700 m/s  |  Range 300 – 5 500 m/s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S-wave velocity (Vs)</a:t>
            </a:r>
          </a:p>
          <a:p>
            <a:r>
              <a:rPr sz="1900">
                <a:solidFill>
                  <a:srgbClr val="E8F0FE"/>
                </a:solidFill>
              </a:rPr>
              <a:t>    Mean ≈ 1 100 m/s  |  Range 0 – 3 300 m/s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Elastic ratios</a:t>
            </a:r>
          </a:p>
          <a:p>
            <a:r>
              <a:rPr sz="1900">
                <a:solidFill>
                  <a:srgbClr val="E8F0FE"/>
                </a:solidFill>
              </a:rPr>
              <a:t>    Vp/Vs mean ≈ 2.49  (range 1.73 – 3.73)</a:t>
            </a:r>
          </a:p>
          <a:p>
            <a:r>
              <a:rPr sz="1900">
                <a:solidFill>
                  <a:srgbClr val="E8F0FE"/>
                </a:solidFill>
              </a:rPr>
              <a:t>    Poisson's ratio mean ≈ 0.365  (range 0.25 – 0.46)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Acoustic Impedance</a:t>
            </a:r>
          </a:p>
          <a:p>
            <a:r>
              <a:rPr sz="1900">
                <a:solidFill>
                  <a:srgbClr val="E8F0FE"/>
                </a:solidFill>
              </a:rPr>
              <a:t>    Range 2.4 – 10.8 MRayl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Verifier confidence: ≥ 0.85 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Geophysical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High Vp/Vs (≈ 2.5) and Poisson's ratio (≈ 0.37) suggest:</a:t>
            </a:r>
          </a:p>
          <a:p>
            <a:r>
              <a:rPr sz="1900">
                <a:solidFill>
                  <a:srgbClr val="E8F0FE"/>
                </a:solidFill>
              </a:rPr>
              <a:t>    → Predominantly shaly lithologies or water-saturated sands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Lower Vp/Vs zones (1.73) indicate:</a:t>
            </a:r>
          </a:p>
          <a:p>
            <a:r>
              <a:rPr sz="1900">
                <a:solidFill>
                  <a:srgbClr val="E8F0FE"/>
                </a:solidFill>
              </a:rPr>
              <a:t>    → Silica-rich or gas-bearing sandstones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Upper Poisson's ratio (0.46) near fluid limit suggests:</a:t>
            </a:r>
          </a:p>
          <a:p>
            <a:r>
              <a:rPr sz="1900">
                <a:solidFill>
                  <a:srgbClr val="E8F0FE"/>
                </a:solidFill>
              </a:rPr>
              <a:t>    → Highly unconsolidated muds or gas-saturated soft sediment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Acoustic Impedance range (2.4 – 10.8 MRayl):</a:t>
            </a:r>
          </a:p>
          <a:p>
            <a:r>
              <a:rPr sz="1900">
                <a:solidFill>
                  <a:srgbClr val="E8F0FE"/>
                </a:solidFill>
              </a:rPr>
              <a:t>    → Strong impedance contrasts → bright reflectors expected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Marmousi complexity confirms suitability as a benchmark for</a:t>
            </a:r>
          </a:p>
          <a:p>
            <a:r>
              <a:rPr sz="1900">
                <a:solidFill>
                  <a:srgbClr val="E8F0FE"/>
                </a:solidFill>
              </a:rPr>
              <a:t>    testing porosity-prediction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Automated Report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A90D9"/>
                </a:solidFill>
              </a:rPr>
              <a:t>Markdown Report (ReporterAgent)</a:t>
            </a:r>
          </a:p>
          <a:p>
            <a:r>
              <a:rPr sz="1700">
                <a:solidFill>
                  <a:srgbClr val="E8F0FE"/>
                </a:solidFill>
              </a:rPr>
              <a:t>  •  Triggered by VERIFICATION_COMPLETE</a:t>
            </a:r>
          </a:p>
          <a:p>
            <a:r>
              <a:rPr sz="1700">
                <a:solidFill>
                  <a:srgbClr val="E8F0FE"/>
                </a:solidFill>
              </a:rPr>
              <a:t>  •  Sections:</a:t>
            </a:r>
          </a:p>
          <a:p>
            <a:r>
              <a:rPr sz="1700">
                <a:solidFill>
                  <a:srgbClr val="E8F0FE"/>
                </a:solidFill>
              </a:rPr>
              <a:t>    Mission ID &amp; date</a:t>
            </a:r>
          </a:p>
          <a:p>
            <a:r>
              <a:rPr sz="1700">
                <a:solidFill>
                  <a:srgbClr val="E8F0FE"/>
                </a:solidFill>
              </a:rPr>
              <a:t>    Objective</a:t>
            </a:r>
          </a:p>
          <a:p>
            <a:r>
              <a:rPr sz="1700">
                <a:solidFill>
                  <a:srgbClr val="E8F0FE"/>
                </a:solidFill>
              </a:rPr>
              <a:t>    Data sources</a:t>
            </a:r>
          </a:p>
          <a:p>
            <a:r>
              <a:rPr sz="1700">
                <a:solidFill>
                  <a:srgbClr val="E8F0FE"/>
                </a:solidFill>
              </a:rPr>
              <a:t>    Figure list</a:t>
            </a:r>
          </a:p>
          <a:p>
            <a:r>
              <a:rPr sz="1700">
                <a:solidFill>
                  <a:srgbClr val="E8F0FE"/>
                </a:solidFill>
              </a:rPr>
              <a:t>    LLM insights</a:t>
            </a:r>
          </a:p>
          <a:p>
            <a:r>
              <a:rPr sz="1700">
                <a:solidFill>
                  <a:srgbClr val="E8F0FE"/>
                </a:solidFill>
              </a:rPr>
              <a:t>  •  Saved to outputs/*.md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A90D9"/>
                </a:solidFill>
              </a:rPr>
              <a:t>PDF Report (LaTeXReporterAgent)</a:t>
            </a:r>
          </a:p>
          <a:p>
            <a:r>
              <a:rPr sz="1700">
                <a:solidFill>
                  <a:srgbClr val="E8F0FE"/>
                </a:solidFill>
              </a:rPr>
              <a:t>  •  Full LaTeX document:</a:t>
            </a:r>
          </a:p>
          <a:p>
            <a:r>
              <a:rPr sz="1700">
                <a:solidFill>
                  <a:srgbClr val="E8F0FE"/>
                </a:solidFill>
              </a:rPr>
              <a:t>    Cover page, TOC</a:t>
            </a:r>
          </a:p>
          <a:p>
            <a:r>
              <a:rPr sz="1700">
                <a:solidFill>
                  <a:srgbClr val="E8F0FE"/>
                </a:solidFill>
              </a:rPr>
              <a:t>    Quantitative metrics table</a:t>
            </a:r>
          </a:p>
          <a:p>
            <a:r>
              <a:rPr sz="1700">
                <a:solidFill>
                  <a:srgbClr val="E8F0FE"/>
                </a:solidFill>
              </a:rPr>
              <a:t>    Embedded figures</a:t>
            </a:r>
          </a:p>
          <a:p>
            <a:r>
              <a:rPr sz="1700">
                <a:solidFill>
                  <a:srgbClr val="E8F0FE"/>
                </a:solidFill>
              </a:rPr>
              <a:t>    LLM interpretation section</a:t>
            </a:r>
          </a:p>
          <a:p>
            <a:r>
              <a:rPr sz="1700">
                <a:solidFill>
                  <a:srgbClr val="E8F0FE"/>
                </a:solidFill>
              </a:rPr>
              <a:t>  •  Markdown → LaTeX conversion</a:t>
            </a:r>
          </a:p>
          <a:p>
            <a:r>
              <a:rPr sz="1700">
                <a:solidFill>
                  <a:srgbClr val="E8F0FE"/>
                </a:solidFill>
              </a:rPr>
              <a:t>  •  Two pdflatex passes (TOC)</a:t>
            </a:r>
          </a:p>
          <a:p>
            <a:r>
              <a:rPr sz="1700">
                <a:solidFill>
                  <a:srgbClr val="E8F0FE"/>
                </a:solidFill>
              </a:rPr>
              <a:t>  •  Saved to outputs/*.pdf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Tool Call Logger &amp; Cost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ToolCallLogger  (framework/tool_call_logger.py)</a:t>
            </a:r>
          </a:p>
          <a:p>
            <a:r>
              <a:rPr sz="1900">
                <a:solidFill>
                  <a:srgbClr val="E8F0FE"/>
                </a:solidFill>
              </a:rPr>
              <a:t>    Records per-tool: start/end time, duration_ms, success, summary</a:t>
            </a:r>
          </a:p>
          <a:p>
            <a:r>
              <a:rPr sz="1900">
                <a:solidFill>
                  <a:srgbClr val="E8F0FE"/>
                </a:solidFill>
              </a:rPr>
              <a:t>    Appends to tool_calls.jsonl  (never overwrites — cumulative log)</a:t>
            </a:r>
          </a:p>
          <a:p>
            <a:r>
              <a:rPr sz="1900">
                <a:solidFill>
                  <a:srgbClr val="E8F0FE"/>
                </a:solidFill>
              </a:rPr>
              <a:t>    Also writes into ctx.metrics for inclusion in the report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CostTracker  (framework/cost_tracker.py)</a:t>
            </a:r>
          </a:p>
          <a:p>
            <a:r>
              <a:rPr sz="1900">
                <a:solidFill>
                  <a:srgbClr val="E8F0FE"/>
                </a:solidFill>
              </a:rPr>
              <a:t>    Wraps genai.Client via transparent proxy</a:t>
            </a:r>
          </a:p>
          <a:p>
            <a:r>
              <a:rPr sz="1900">
                <a:solidFill>
                  <a:srgbClr val="E8F0FE"/>
                </a:solidFill>
              </a:rPr>
              <a:t>    Intercepts every generate_content() call</a:t>
            </a:r>
          </a:p>
          <a:p>
            <a:r>
              <a:rPr sz="1900">
                <a:solidFill>
                  <a:srgbClr val="E8F0FE"/>
                </a:solidFill>
              </a:rPr>
              <a:t>    Reads response.usage_metadata.prompt_token_count / candidates_token_count</a:t>
            </a:r>
          </a:p>
          <a:p>
            <a:r>
              <a:rPr sz="1900">
                <a:solidFill>
                  <a:srgbClr val="E8F0FE"/>
                </a:solidFill>
              </a:rPr>
              <a:t>    Estimates USD: $0.10/1M input, $0.40/1M output</a:t>
            </a:r>
          </a:p>
          <a:p>
            <a:r>
              <a:rPr sz="1900">
                <a:solidFill>
                  <a:srgbClr val="E8F0FE"/>
                </a:solidFill>
              </a:rPr>
              <a:t>    thread-safe, resetable, serialisable summary()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Evaluation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25 test cases across 5 categories:</a:t>
            </a:r>
          </a:p>
          <a:p>
            <a:r>
              <a:rPr sz="1900">
                <a:solidFill>
                  <a:srgbClr val="E8F0FE"/>
                </a:solidFill>
              </a:rPr>
              <a:t>    happy_path           (5)  – standard Marmousi queries</a:t>
            </a:r>
          </a:p>
          <a:p>
            <a:r>
              <a:rPr sz="1900">
                <a:solidFill>
                  <a:srgbClr val="E8F0FE"/>
                </a:solidFill>
              </a:rPr>
              <a:t>    analysis_type_variation (5) – different pipeline keywords</a:t>
            </a:r>
          </a:p>
          <a:p>
            <a:r>
              <a:rPr sz="1900">
                <a:solidFill>
                  <a:srgbClr val="E8F0FE"/>
                </a:solidFill>
              </a:rPr>
              <a:t>    wrong_dataset        (5)  – datasets not on disk (fast fail)</a:t>
            </a:r>
          </a:p>
          <a:p>
            <a:r>
              <a:rPr sz="1900">
                <a:solidFill>
                  <a:srgbClr val="E8F0FE"/>
                </a:solidFill>
              </a:rPr>
              <a:t>    malformed_query      (5)  – empty, numeric, SQL-injection, foreign lang</a:t>
            </a:r>
          </a:p>
          <a:p>
            <a:r>
              <a:rPr sz="1900">
                <a:solidFill>
                  <a:srgbClr val="E8F0FE"/>
                </a:solidFill>
              </a:rPr>
              <a:t>    partial_query        (5)  – ambiguous / minimal queries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Per-case: fresh Workspace + agents + CostTracker</a:t>
            </a:r>
          </a:p>
          <a:p>
            <a:r>
              <a:rPr sz="1900">
                <a:solidFill>
                  <a:srgbClr val="E8F0FE"/>
                </a:solidFill>
              </a:rPr>
              <a:t>  •  Expected outcomes: success | awaiting_clarification | no_crash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Output: eval/results_&lt;ts&gt;.json + eval/report_&lt;ts&gt;.md</a:t>
            </a:r>
          </a:p>
          <a:p>
            <a:r>
              <a:rPr sz="1900">
                <a:solidFill>
                  <a:srgbClr val="E8F0FE"/>
                </a:solidFill>
              </a:rPr>
              <a:t>  •  CLI: python eval/run_eval.py --categories wrong_dataset --limit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Streamlit Interactive Dashboard (app.py)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Sidebar: query input, pipeline selector, run button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Pipeline execution panel:</a:t>
            </a:r>
          </a:p>
          <a:p>
            <a:r>
              <a:rPr sz="1900">
                <a:solidFill>
                  <a:srgbClr val="E8F0FE"/>
                </a:solidFill>
              </a:rPr>
              <a:t>    Live tool-by-tool progress via st.status()</a:t>
            </a:r>
          </a:p>
          <a:p>
            <a:r>
              <a:rPr sz="1900">
                <a:solidFill>
                  <a:srgbClr val="E8F0FE"/>
                </a:solidFill>
              </a:rPr>
              <a:t>    Real-time tool call log table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Results panel:</a:t>
            </a:r>
          </a:p>
          <a:p>
            <a:r>
              <a:rPr sz="1900">
                <a:solidFill>
                  <a:srgbClr val="E8F0FE"/>
                </a:solidFill>
              </a:rPr>
              <a:t>    Plotly interactive velocity model (Vp / Vs / Vp-Vs ratio tabs)</a:t>
            </a:r>
          </a:p>
          <a:p>
            <a:r>
              <a:rPr sz="1900">
                <a:solidFill>
                  <a:srgbClr val="E8F0FE"/>
                </a:solidFill>
              </a:rPr>
              <a:t>    Colour scale selector (Viridis, Plasma, Jet, …)</a:t>
            </a:r>
          </a:p>
          <a:p>
            <a:r>
              <a:rPr sz="1900">
                <a:solidFill>
                  <a:srgbClr val="E8F0FE"/>
                </a:solidFill>
              </a:rPr>
              <a:t>    Metrics table  +  LLM summary</a:t>
            </a:r>
          </a:p>
          <a:p>
            <a:r>
              <a:rPr sz="1900">
                <a:solidFill>
                  <a:srgbClr val="E8F0FE"/>
                </a:solidFill>
              </a:rPr>
              <a:t>    Download buttons: .md and .pdf reports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Run:  streamlit run 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Velocity Model Visualisation (GUI)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elocity_model_20260502_151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</a:rPr>
              <a:t>Plotly interactive heatmap — Vp / Vs / Vp-Vs ratio tabs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Observability — LangSmith Tracing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Every Gemini call is traced with langsmith.wrappers.wrap_gemini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Tags: ['gemini', 'seismic-agent']</a:t>
            </a:r>
          </a:p>
          <a:p>
            <a:r>
              <a:rPr sz="1900">
                <a:solidFill>
                  <a:srgbClr val="E8F0FE"/>
                </a:solidFill>
              </a:rPr>
              <a:t>  •  Metadata: {'integration': 'google-genai'}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Captured per run:</a:t>
            </a:r>
          </a:p>
          <a:p>
            <a:r>
              <a:rPr sz="1900">
                <a:solidFill>
                  <a:srgbClr val="E8F0FE"/>
                </a:solidFill>
              </a:rPr>
              <a:t>    Full prompt text and model parameters</a:t>
            </a:r>
          </a:p>
          <a:p>
            <a:r>
              <a:rPr sz="1900">
                <a:solidFill>
                  <a:srgbClr val="E8F0FE"/>
                </a:solidFill>
              </a:rPr>
              <a:t>    Response latency and token counts</a:t>
            </a:r>
          </a:p>
          <a:p>
            <a:r>
              <a:rPr sz="1900">
                <a:solidFill>
                  <a:srgbClr val="E8F0FE"/>
                </a:solidFill>
              </a:rPr>
              <a:t>    Span hierarchy (manager → analysis → verifier)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Enables post-hoc debugging, cost attribution, and regression testing</a:t>
            </a:r>
          </a:p>
          <a:p>
            <a:r>
              <a:rPr sz="1900">
                <a:solidFill>
                  <a:srgbClr val="E8F0FE"/>
                </a:solidFill>
              </a:rPr>
              <a:t>  •  without any changes to agent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Conclusions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Achieved:</a:t>
            </a:r>
          </a:p>
          <a:p>
            <a:r>
              <a:rPr sz="1900">
                <a:solidFill>
                  <a:srgbClr val="E8F0FE"/>
                </a:solidFill>
              </a:rPr>
              <a:t>    Fully autonomous seismic analysis: query → PDF in &lt; 3 min</a:t>
            </a:r>
          </a:p>
          <a:p>
            <a:r>
              <a:rPr sz="1900">
                <a:solidFill>
                  <a:srgbClr val="E8F0FE"/>
                </a:solidFill>
              </a:rPr>
              <a:t>    Domain-safe outputs via 7-rule guardrail system</a:t>
            </a:r>
          </a:p>
          <a:p>
            <a:r>
              <a:rPr sz="1900">
                <a:solidFill>
                  <a:srgbClr val="E8F0FE"/>
                </a:solidFill>
              </a:rPr>
              <a:t>    Auditable: mission_log.json + tool_calls.jsonl</a:t>
            </a:r>
          </a:p>
          <a:p>
            <a:r>
              <a:rPr sz="1900">
                <a:solidFill>
                  <a:srgbClr val="E8F0FE"/>
                </a:solidFill>
              </a:rPr>
              <a:t>    Extensible: add new tools / pipelines in one dict entry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Future directions:</a:t>
            </a:r>
          </a:p>
          <a:p>
            <a:r>
              <a:rPr sz="1900">
                <a:solidFill>
                  <a:srgbClr val="E8F0FE"/>
                </a:solidFill>
              </a:rPr>
              <a:t>    Support real field data (well-log integration, time-to-depth)</a:t>
            </a:r>
          </a:p>
          <a:p>
            <a:r>
              <a:rPr sz="1900">
                <a:solidFill>
                  <a:srgbClr val="E8F0FE"/>
                </a:solidFill>
              </a:rPr>
              <a:t>    Asynchronous agent execution for multi-dataset runs</a:t>
            </a:r>
          </a:p>
          <a:p>
            <a:r>
              <a:rPr sz="1900">
                <a:solidFill>
                  <a:srgbClr val="E8F0FE"/>
                </a:solidFill>
              </a:rPr>
              <a:t>    RAG over existing geophysical literature for richer interpretation</a:t>
            </a:r>
          </a:p>
          <a:p>
            <a:r>
              <a:rPr sz="1900">
                <a:solidFill>
                  <a:srgbClr val="E8F0FE"/>
                </a:solidFill>
              </a:rPr>
              <a:t>    Active-learning loop: verifier flags → analyst feedback → LLM fine-tune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A90D9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E8F0FE"/>
                </a:solidFill>
              </a:rPr>
              <a:t>  •  Repository structure: seismic_agent/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Key files:</a:t>
            </a:r>
          </a:p>
          <a:p>
            <a:r>
              <a:rPr sz="1900">
                <a:solidFill>
                  <a:srgbClr val="E8F0FE"/>
                </a:solidFill>
              </a:rPr>
              <a:t>    main.py          – CLI entry-point</a:t>
            </a:r>
          </a:p>
          <a:p>
            <a:r>
              <a:rPr sz="1900">
                <a:solidFill>
                  <a:srgbClr val="E8F0FE"/>
                </a:solidFill>
              </a:rPr>
              <a:t>    app.py           – Streamlit GUI</a:t>
            </a:r>
          </a:p>
          <a:p>
            <a:r>
              <a:rPr sz="1900">
                <a:solidFill>
                  <a:srgbClr val="E8F0FE"/>
                </a:solidFill>
              </a:rPr>
              <a:t>    framework/       – agents, tools, workspace</a:t>
            </a:r>
          </a:p>
          <a:p>
            <a:r>
              <a:rPr sz="1900">
                <a:solidFill>
                  <a:srgbClr val="E8F0FE"/>
                </a:solidFill>
              </a:rPr>
              <a:t>    eval/            – evaluation framework</a:t>
            </a:r>
          </a:p>
          <a:p>
            <a:r>
              <a:rPr sz="1900">
                <a:solidFill>
                  <a:srgbClr val="E8F0FE"/>
                </a:solidFill>
              </a:rPr>
              <a:t>    docs/            – all deliverables (this presentation)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Google Generative AI SDK  ·  segyio  ·  LangSmith  ·  Streamlit  ·  Plotly</a:t>
            </a:r>
          </a:p>
          <a:p>
            <a:r>
              <a:rPr sz="1900">
                <a:solidFill>
                  <a:srgbClr val="E8F0FE"/>
                </a:solidFill>
              </a:rPr>
              <a:t>  •  </a:t>
            </a:r>
          </a:p>
          <a:p>
            <a:r>
              <a:rPr sz="1900">
                <a:solidFill>
                  <a:srgbClr val="E8F0FE"/>
                </a:solidFill>
              </a:rPr>
              <a:t>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